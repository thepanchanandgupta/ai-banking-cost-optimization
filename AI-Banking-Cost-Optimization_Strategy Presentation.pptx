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81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5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12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96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8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4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37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74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71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05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7403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2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6263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80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77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7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87B90D-7B05-4B8E-B70E-80F7B834D2EB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BA6486-1683-4AD1-A8F9-C172DECCB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4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09B2-1D49-361F-1B2A-A26E2531B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94" y="29497"/>
            <a:ext cx="9606116" cy="2387600"/>
          </a:xfrm>
        </p:spPr>
        <p:txBody>
          <a:bodyPr/>
          <a:lstStyle/>
          <a:p>
            <a:r>
              <a:rPr lang="en-IN" dirty="0"/>
              <a:t>AI-Driven Cost Optimization Model for Mid-Tier Banks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6BB7C-918E-A919-ACD9-C03E1DF5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Financial &amp; Strategic Impact 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7AEBE-3B64-F204-0B90-28E59C3D9022}"/>
              </a:ext>
            </a:extLst>
          </p:cNvPr>
          <p:cNvSpPr txBox="1"/>
          <p:nvPr/>
        </p:nvSpPr>
        <p:spPr>
          <a:xfrm>
            <a:off x="2900517" y="4256881"/>
            <a:ext cx="9068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Panchanand Gupta – PGDM (Great Lakes Institute of Management (Gurgaon)</a:t>
            </a:r>
          </a:p>
        </p:txBody>
      </p:sp>
    </p:spTree>
    <p:extLst>
      <p:ext uri="{BB962C8B-B14F-4D97-AF65-F5344CB8AC3E}">
        <p14:creationId xmlns:p14="http://schemas.microsoft.com/office/powerpoint/2010/main" val="1546155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CE6889-0EEF-FE45-113D-79E9988AE49C}"/>
              </a:ext>
            </a:extLst>
          </p:cNvPr>
          <p:cNvSpPr txBox="1"/>
          <p:nvPr/>
        </p:nvSpPr>
        <p:spPr>
          <a:xfrm>
            <a:off x="668215" y="1883171"/>
            <a:ext cx="77606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Rising call center servicing costs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Increasing customer query volume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Scalability constraints in manual servicing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AI automation as cost + efficiency lever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DCC00-A6EA-4028-E874-03C942A0E022}"/>
              </a:ext>
            </a:extLst>
          </p:cNvPr>
          <p:cNvSpPr txBox="1"/>
          <p:nvPr/>
        </p:nvSpPr>
        <p:spPr>
          <a:xfrm>
            <a:off x="457199" y="682842"/>
            <a:ext cx="6564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Problem Context</a:t>
            </a:r>
          </a:p>
          <a:p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65651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6D134-2789-7C1E-E2A5-675C6E32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9" y="1883171"/>
            <a:ext cx="4544531" cy="3605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B19A7C-D1AA-F18D-C7FC-E165B0190D5C}"/>
              </a:ext>
            </a:extLst>
          </p:cNvPr>
          <p:cNvSpPr txBox="1"/>
          <p:nvPr/>
        </p:nvSpPr>
        <p:spPr>
          <a:xfrm>
            <a:off x="457199" y="682842"/>
            <a:ext cx="6564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Financial Model (Base Case)</a:t>
            </a:r>
          </a:p>
          <a:p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18071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D1521-3EF0-514F-115D-81F8BA0B9286}"/>
              </a:ext>
            </a:extLst>
          </p:cNvPr>
          <p:cNvSpPr txBox="1"/>
          <p:nvPr/>
        </p:nvSpPr>
        <p:spPr>
          <a:xfrm>
            <a:off x="457200" y="682842"/>
            <a:ext cx="4349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Sensitivity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2F74C-B9F0-FD17-4D7C-A896B4CAA584}"/>
              </a:ext>
            </a:extLst>
          </p:cNvPr>
          <p:cNvSpPr txBox="1"/>
          <p:nvPr/>
        </p:nvSpPr>
        <p:spPr>
          <a:xfrm>
            <a:off x="1359877" y="5172425"/>
            <a:ext cx="8956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</a:t>
            </a:r>
            <a:r>
              <a:rPr lang="en-US" sz="2400" dirty="0"/>
              <a:t>ach +10% automation adds ~$1.92M incremental annual savings.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0E11A-987E-36B3-C740-A10695718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945457"/>
            <a:ext cx="4349262" cy="284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7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2D339-C391-F289-54D6-C37CED35C6B6}"/>
              </a:ext>
            </a:extLst>
          </p:cNvPr>
          <p:cNvSpPr txBox="1"/>
          <p:nvPr/>
        </p:nvSpPr>
        <p:spPr>
          <a:xfrm>
            <a:off x="457199" y="682842"/>
            <a:ext cx="521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Strategic Implications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2C18B-357F-2A09-ACB7-373141FE1D22}"/>
              </a:ext>
            </a:extLst>
          </p:cNvPr>
          <p:cNvSpPr txBox="1"/>
          <p:nvPr/>
        </p:nvSpPr>
        <p:spPr>
          <a:xfrm>
            <a:off x="668215" y="1883171"/>
            <a:ext cx="77606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</a:t>
            </a:r>
            <a:r>
              <a:rPr lang="en-IN" altLang="en-US" sz="2400" dirty="0"/>
              <a:t>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operating leverage from automation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Rapid payback period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Viable value-based SaaS pricing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Attractive for mid-tier banking segment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704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91BF-11BF-DB26-BA2A-7B5714EA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40278-91BF-A067-867F-EF1DD5A365E6}"/>
              </a:ext>
            </a:extLst>
          </p:cNvPr>
          <p:cNvSpPr txBox="1"/>
          <p:nvPr/>
        </p:nvSpPr>
        <p:spPr>
          <a:xfrm>
            <a:off x="457199" y="682842"/>
            <a:ext cx="521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Risks &amp;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63F2E-DAEF-14B5-7E20-C127BB6B538E}"/>
              </a:ext>
            </a:extLst>
          </p:cNvPr>
          <p:cNvSpPr txBox="1"/>
          <p:nvPr/>
        </p:nvSpPr>
        <p:spPr>
          <a:xfrm>
            <a:off x="668215" y="1883171"/>
            <a:ext cx="77606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privacy &amp; compliance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hallucination risk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Escalation protocols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Human-in-loop oversight</a:t>
            </a:r>
          </a:p>
        </p:txBody>
      </p:sp>
    </p:spTree>
    <p:extLst>
      <p:ext uri="{BB962C8B-B14F-4D97-AF65-F5344CB8AC3E}">
        <p14:creationId xmlns:p14="http://schemas.microsoft.com/office/powerpoint/2010/main" val="294211135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</TotalTime>
  <Words>103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Slice</vt:lpstr>
      <vt:lpstr>AI-Driven Cost Optimization Model for Mid-Tier Banks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Panchanand Gupta</dc:creator>
  <cp:lastModifiedBy>Panchanand Gupta</cp:lastModifiedBy>
  <cp:revision>4</cp:revision>
  <dcterms:created xsi:type="dcterms:W3CDTF">2026-02-20T09:51:46Z</dcterms:created>
  <dcterms:modified xsi:type="dcterms:W3CDTF">2026-02-20T10:15:43Z</dcterms:modified>
</cp:coreProperties>
</file>